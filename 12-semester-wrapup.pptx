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7"/>
  </p:notesMasterIdLst>
  <p:sldIdLst>
    <p:sldId id="291" r:id="rId2"/>
    <p:sldId id="258" r:id="rId3"/>
    <p:sldId id="292" r:id="rId4"/>
    <p:sldId id="305" r:id="rId5"/>
    <p:sldId id="276" r:id="rId6"/>
    <p:sldId id="261" r:id="rId7"/>
    <p:sldId id="281" r:id="rId8"/>
    <p:sldId id="277" r:id="rId9"/>
    <p:sldId id="304" r:id="rId10"/>
    <p:sldId id="293" r:id="rId11"/>
    <p:sldId id="814" r:id="rId12"/>
    <p:sldId id="815" r:id="rId13"/>
    <p:sldId id="816" r:id="rId14"/>
    <p:sldId id="817" r:id="rId15"/>
    <p:sldId id="818" r:id="rId16"/>
  </p:sldIdLst>
  <p:sldSz cx="12192000" cy="6858000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1"/>
    <p:restoredTop sz="94541"/>
  </p:normalViewPr>
  <p:slideViewPr>
    <p:cSldViewPr snapToGrid="0">
      <p:cViewPr varScale="1">
        <p:scale>
          <a:sx n="124" d="100"/>
          <a:sy n="124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4B7AA-6846-7449-961A-E4A05546E11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CFA23-9D28-5846-8DA1-0BB7D92C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9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ACEA580F-E6CA-3343-9E0C-6B755657B6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4E99B0BD-BE21-A240-A92B-BDB6FC8D42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56D017BF-2828-DD47-A571-6A45A3942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538A932-7ECA-D84C-8E8F-37D7A4390667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BE27-F112-244C-8961-8F2282568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D558B-3279-3D41-BFB2-9C54E9486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9730-9781-EC4C-B4B8-794611E2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09540-EBC0-9045-A84F-101FB12F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528B-246D-B04C-ADA9-AC53B4BC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3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53C1-AB15-E241-9894-49F2D18E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71" y="139983"/>
            <a:ext cx="11299257" cy="8284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DCF7-F1D9-394C-82C4-F94025F24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200"/>
            </a:lvl2pPr>
            <a:lvl4pPr>
              <a:defRPr sz="19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F9098-1381-194C-9F11-73CC6DEE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60E9A-3A45-4743-AC46-18742C51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3E0D4-1D87-894D-A959-1C4A0063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3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B328-AF55-724F-8E42-E406FBEEE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0316F-3009-FA4B-9413-641CA98A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76F4-28D8-4E48-A9C6-83C00F13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69F6B-5E74-534D-86F5-03CA1C7AB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E9B2E-D16C-B64B-966F-9ABFFF7B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3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2BDA-38D2-874C-947C-A9D1AD47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D0FC-33C7-D846-8D84-76DC5C07D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3429A-963F-FD47-99C4-3BD55D05C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70463-C854-8A4F-906E-6F8D7D5A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C17E0-1BBB-E34D-9024-FAC89016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A2B21-3BA2-324B-B1D9-09A5ACED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4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BA5E-1CA9-534F-B3BB-18F63C7E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E7421-418B-2F4D-B8E5-1E275B3E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1650A-FE80-724C-95DE-BF1F85DBF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A00AEA-8B7C-2D47-967D-A83FADAB9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55AC2-CBFE-5242-9B79-6CB452E0D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DE3E4-1E96-A040-B8ED-D0DF5B385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A2653-6C30-804C-8504-B68F1432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6F174-DF95-A94C-805D-86789E0B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4EFD-0986-9946-BEC9-E5710BCF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B50A9-BA4C-434D-BABF-FA749E4C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B4691-1E9C-7544-BEED-8D25662B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8225E-F9DD-5543-A835-DB964061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9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5CDF9-0370-FE41-A095-DBC14D3B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372BE-BB69-3C48-8273-FE089D25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30507-B6B4-D046-A854-C8D53CEE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6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AEFA-850F-E24B-AB93-A79107F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CCB0-A3D3-124F-9FA4-6DACAACF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7F410-8ED3-5D48-9C67-03F7DBBBF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CBE08-9A82-464F-9C16-19AC8C58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92363-9BB9-3B47-A9EA-3890C6B13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50E41-0BCB-304F-82BC-BD45C051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0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1ED9-48CB-7E4E-B423-69F4C2F1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8E01C-8075-134A-A809-8DCDAC471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EB098-9819-6A41-B679-B9A3225E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DC97C-1DAD-C245-A9BD-B3CD3063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8F5D2-47D8-0D45-99AB-FF8B1C9E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9A63F-9CCA-2D40-99E7-938AB2F3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2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F56C-7E57-7849-8776-2339060D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EEEB3-91CC-664E-9D80-B5E01813F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9486C-D035-7345-97E5-E62BA8A1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1ABB8-0492-0841-A805-217222F0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D94B2-21BD-CF41-B58C-CCADACFD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9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D88F3-6A20-A24E-A325-E0386762B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7FE09-5A12-4D4D-8542-2D841B05D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03BB9-D5D0-B247-9B7A-2814F4C0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00D7B-6C0D-8242-8512-10465B74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D858C-BA1D-4E49-9A36-BCDB7908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79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DC2044-4A08-E748-A06E-C2B27E5802F1}"/>
              </a:ext>
            </a:extLst>
          </p:cNvPr>
          <p:cNvSpPr/>
          <p:nvPr userDrawn="1"/>
        </p:nvSpPr>
        <p:spPr>
          <a:xfrm>
            <a:off x="10991851" y="1509185"/>
            <a:ext cx="1200149" cy="150918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/>
          </a:p>
        </p:txBody>
      </p:sp>
      <p:pic>
        <p:nvPicPr>
          <p:cNvPr id="6" name="Picture 2" descr="2014_logo_only_reverse.png">
            <a:extLst>
              <a:ext uri="{FF2B5EF4-FFF2-40B4-BE49-F238E27FC236}">
                <a16:creationId xmlns:a16="http://schemas.microsoft.com/office/drawing/2014/main" id="{51D12B78-8139-E644-BCC8-ACA6A44F8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3585" y="1892300"/>
            <a:ext cx="54398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487683" y="4005064"/>
            <a:ext cx="7240271" cy="428525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2400" b="0" i="0" kern="0" spc="4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z="1200" b="0" i="0">
                <a:latin typeface="Whitney Book"/>
                <a:cs typeface="Whitney Book"/>
              </a:defRPr>
            </a:lvl2pPr>
            <a:lvl3pPr>
              <a:defRPr sz="1200" b="0" i="0">
                <a:latin typeface="Whitney Book"/>
                <a:cs typeface="Whitney Book"/>
              </a:defRPr>
            </a:lvl3pPr>
            <a:lvl4pPr>
              <a:defRPr sz="1200" b="0" i="0">
                <a:latin typeface="Whitney Book"/>
                <a:cs typeface="Whitney Book"/>
              </a:defRPr>
            </a:lvl4pPr>
            <a:lvl5pPr>
              <a:defRPr sz="12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87683" y="4677140"/>
            <a:ext cx="7240271" cy="428525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333" b="1" i="0" kern="0" cap="none" spc="0" normalizeH="0" baseline="0">
                <a:solidFill>
                  <a:srgbClr val="0C2344"/>
                </a:solidFill>
                <a:latin typeface="Arial"/>
                <a:cs typeface="Arial"/>
              </a:defRPr>
            </a:lvl1pPr>
            <a:lvl2pPr>
              <a:defRPr sz="1200" b="0" i="0">
                <a:latin typeface="Whitney Book"/>
                <a:cs typeface="Whitney Book"/>
              </a:defRPr>
            </a:lvl2pPr>
            <a:lvl3pPr>
              <a:defRPr sz="1200" b="0" i="0">
                <a:latin typeface="Whitney Book"/>
                <a:cs typeface="Whitney Book"/>
              </a:defRPr>
            </a:lvl3pPr>
            <a:lvl4pPr>
              <a:defRPr sz="1200" b="0" i="0">
                <a:latin typeface="Whitney Book"/>
                <a:cs typeface="Whitney Book"/>
              </a:defRPr>
            </a:lvl4pPr>
            <a:lvl5pPr>
              <a:defRPr sz="12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BE2BB-0C57-3E4C-A753-F59901215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450" y="1522077"/>
            <a:ext cx="7251700" cy="209894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067"/>
              </a:lnSpc>
              <a:defRPr sz="4533" b="1">
                <a:solidFill>
                  <a:schemeClr val="accent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CA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5143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F019E-E614-5548-8365-C20F6DA2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73" y="192506"/>
            <a:ext cx="11299257" cy="828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CEAC7-F53B-D046-B9BF-62E13694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72" y="1122980"/>
            <a:ext cx="11299257" cy="5233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EA738-7026-704E-8BE3-A3F8E1AD3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BE46A-ECAA-8344-9243-1EDB3786016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4C36-7D2E-484E-8414-889C3BA81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6CD17-A088-FF4E-9DB1-3D817A24E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EEA80-1F59-8B4A-B8D8-97A138480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432FF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s.nyu.edu/~eero/math-tools/" TargetMode="External"/><Relationship Id="rId2" Type="http://schemas.openxmlformats.org/officeDocument/2006/relationships/hyperlink" Target="https://neuromatch.io/computational-neuroscienc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B712E-B4B1-9B41-A76F-28B0BB1DF1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400" dirty="0"/>
              <a:t>Semester Overview (March 30, 2026)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CADF-542C-974D-B0BD-339E9326A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683" y="4677140"/>
            <a:ext cx="7240271" cy="7681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Dr. Hyosub Kim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School of Kinesiology / Graduate Program in Neuroscience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4869A91-59F7-7643-84C1-F6AE18ED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49" y="1522077"/>
            <a:ext cx="8779213" cy="2098944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0432FF"/>
                </a:solidFill>
              </a:rPr>
              <a:t>KIN 482D: Computational modeling of human sensorimotor control and learning</a:t>
            </a:r>
            <a:endParaRPr lang="en-US" dirty="0">
              <a:solidFill>
                <a:srgbClr val="0432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8C40-C0E0-88BC-E92D-ED67A5F5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1399E-B9D9-8E3B-8A57-EA0762D94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have we learned this semester?</a:t>
            </a:r>
          </a:p>
          <a:p>
            <a:endParaRPr lang="en-US" dirty="0"/>
          </a:p>
          <a:p>
            <a:r>
              <a:rPr lang="en-US" dirty="0"/>
              <a:t>Next steps</a:t>
            </a:r>
          </a:p>
          <a:p>
            <a:endParaRPr lang="en-US" dirty="0"/>
          </a:p>
          <a:p>
            <a:r>
              <a:rPr lang="en-US" dirty="0"/>
              <a:t>Course feedback</a:t>
            </a:r>
          </a:p>
          <a:p>
            <a:endParaRPr lang="en-US" dirty="0"/>
          </a:p>
          <a:p>
            <a:r>
              <a:rPr lang="en-US" dirty="0"/>
              <a:t>Work on final projects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23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204F-0946-70B0-1A53-239AE76D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computational modeling?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F08D-95BF-FABB-97ED-F310D9A04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 key components of a complex system/behavior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Clarify and formalize our scientific intuitions</a:t>
            </a:r>
          </a:p>
          <a:p>
            <a:pPr lvl="1"/>
            <a:r>
              <a:rPr lang="en-US" dirty="0"/>
              <a:t>Use math to remove ambiguities</a:t>
            </a:r>
          </a:p>
          <a:p>
            <a:pPr lvl="1"/>
            <a:r>
              <a:rPr lang="en-US" dirty="0"/>
              <a:t>Generate testable (falsifiable) predictions</a:t>
            </a:r>
          </a:p>
          <a:p>
            <a:endParaRPr lang="en-US" dirty="0"/>
          </a:p>
          <a:p>
            <a:r>
              <a:rPr lang="en-US" dirty="0"/>
              <a:t>Limit number of unnecessary experiments by using simulations – save time, money, and human and animal resources</a:t>
            </a:r>
          </a:p>
          <a:p>
            <a:endParaRPr lang="en-US" dirty="0"/>
          </a:p>
          <a:p>
            <a:r>
              <a:rPr lang="en-US" dirty="0"/>
              <a:t>No silver bullet: “All models are wrong, but some are useful.” </a:t>
            </a:r>
            <a:r>
              <a:rPr lang="en-US" sz="2000" dirty="0"/>
              <a:t>(George Box)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0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6F87-AFB1-8F1F-8A89-5A8679E8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sort of modeling will you learn?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4569-F79E-DA98-9A2A-10FF0695C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We will be modeling the human sensorimotor system, specifically with regard to perception, motor planning, and motor learning</a:t>
            </a:r>
          </a:p>
          <a:p>
            <a:r>
              <a:rPr lang="en-US" sz="2000" dirty="0"/>
              <a:t>One of the great mysteries of sensorimotor control, and neuroscience, is how the nervous system deals with uncertainty – </a:t>
            </a:r>
            <a:r>
              <a:rPr lang="en-US" sz="2000" i="1" dirty="0"/>
              <a:t>What does this mean? What uncertainty? </a:t>
            </a:r>
            <a:endParaRPr lang="en-US" sz="2000" dirty="0"/>
          </a:p>
          <a:p>
            <a:r>
              <a:rPr lang="en-US" sz="2000" b="1" dirty="0"/>
              <a:t>Bayesian modeling (inference) </a:t>
            </a:r>
            <a:r>
              <a:rPr lang="en-US" sz="2000" dirty="0"/>
              <a:t>is the most successful approach to this problem – also happens to be [one of] the best foundations for all other types of modeling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01F5E-2774-21CD-EB4A-D5E2D2437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045" y="3216068"/>
            <a:ext cx="5407907" cy="35019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7ED72B-9CFF-3BAF-6AF9-84E1EA0D55E5}"/>
              </a:ext>
            </a:extLst>
          </p:cNvPr>
          <p:cNvSpPr txBox="1"/>
          <p:nvPr/>
        </p:nvSpPr>
        <p:spPr>
          <a:xfrm>
            <a:off x="9959337" y="6567849"/>
            <a:ext cx="2232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Kording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&amp; Wolpert (2006)</a:t>
            </a:r>
          </a:p>
        </p:txBody>
      </p:sp>
    </p:spTree>
    <p:extLst>
      <p:ext uri="{BB962C8B-B14F-4D97-AF65-F5344CB8AC3E}">
        <p14:creationId xmlns:p14="http://schemas.microsoft.com/office/powerpoint/2010/main" val="11235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3F654-EFDA-23F0-37A8-51523349C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489" y="4377922"/>
            <a:ext cx="4519652" cy="2133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CD4A9-468C-C7AA-47A6-7ED196266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017" y="4484310"/>
            <a:ext cx="1946189" cy="1920240"/>
          </a:xfrm>
          <a:prstGeom prst="rect">
            <a:avLst/>
          </a:prstGeom>
        </p:spPr>
      </p:pic>
      <p:pic>
        <p:nvPicPr>
          <p:cNvPr id="2050" name="Picture 2" descr="Globe-trotting ventriloquist returns to N.S. | CTV News">
            <a:extLst>
              <a:ext uri="{FF2B5EF4-FFF2-40B4-BE49-F238E27FC236}">
                <a16:creationId xmlns:a16="http://schemas.microsoft.com/office/drawing/2014/main" id="{EE10D6D9-6579-C3AC-7151-389351BAA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31" y="1795907"/>
            <a:ext cx="3489165" cy="196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73BFFC-B4DC-B74C-5E1C-101FDBC62141}"/>
              </a:ext>
            </a:extLst>
          </p:cNvPr>
          <p:cNvSpPr txBox="1"/>
          <p:nvPr/>
        </p:nvSpPr>
        <p:spPr>
          <a:xfrm>
            <a:off x="1923124" y="3811164"/>
            <a:ext cx="21139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ventriloquist effect</a:t>
            </a:r>
          </a:p>
        </p:txBody>
      </p:sp>
      <p:pic>
        <p:nvPicPr>
          <p:cNvPr id="2052" name="Picture 4" descr="PDF] Integration of proprioceptive and visual position-information: An  experimentally supported model. | Semantic Scholar">
            <a:extLst>
              <a:ext uri="{FF2B5EF4-FFF2-40B4-BE49-F238E27FC236}">
                <a16:creationId xmlns:a16="http://schemas.microsoft.com/office/drawing/2014/main" id="{FEB3C5C5-83F9-FAF8-079A-B03136A10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4"/>
          <a:stretch/>
        </p:blipFill>
        <p:spPr bwMode="auto">
          <a:xfrm>
            <a:off x="7301707" y="1502723"/>
            <a:ext cx="2859215" cy="230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9C3926-622E-6869-A9BB-CCE210678FA4}"/>
              </a:ext>
            </a:extLst>
          </p:cNvPr>
          <p:cNvSpPr txBox="1"/>
          <p:nvPr/>
        </p:nvSpPr>
        <p:spPr>
          <a:xfrm>
            <a:off x="6596938" y="3811164"/>
            <a:ext cx="4170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Vision and proprioception (van Beers et al 1999)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EAE809-D8B5-515C-7499-D29CCC7B2085}"/>
              </a:ext>
            </a:extLst>
          </p:cNvPr>
          <p:cNvSpPr txBox="1"/>
          <p:nvPr/>
        </p:nvSpPr>
        <p:spPr>
          <a:xfrm>
            <a:off x="1883111" y="6449036"/>
            <a:ext cx="2193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Graphical generative model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1A755B8-03FD-86A1-843C-9C9283CD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71" y="139983"/>
            <a:ext cx="11299257" cy="828408"/>
          </a:xfrm>
        </p:spPr>
        <p:txBody>
          <a:bodyPr>
            <a:noAutofit/>
          </a:bodyPr>
          <a:lstStyle/>
          <a:p>
            <a:r>
              <a:rPr lang="en-US" sz="2800" dirty="0"/>
              <a:t>Motivating examples: Multi-sensory integration (“cue combination”)</a:t>
            </a:r>
          </a:p>
        </p:txBody>
      </p:sp>
    </p:spTree>
    <p:extLst>
      <p:ext uri="{BB962C8B-B14F-4D97-AF65-F5344CB8AC3E}">
        <p14:creationId xmlns:p14="http://schemas.microsoft.com/office/powerpoint/2010/main" val="37608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E85B-3A56-1FCC-1A23-58906745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Motivating examples: sensorimotor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FC931-ABE8-62EA-F9D9-F808DF47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73" y="1122980"/>
            <a:ext cx="6098266" cy="5233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Kalman filter model</a:t>
            </a:r>
          </a:p>
          <a:p>
            <a:r>
              <a:rPr lang="en-US" sz="2200" dirty="0"/>
              <a:t>Optimal combination of prior information with incoming measurements</a:t>
            </a:r>
          </a:p>
          <a:p>
            <a:r>
              <a:rPr lang="en-US" sz="2200" dirty="0"/>
              <a:t>Model of sensorimotor control and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77186-7FA3-1922-D7A0-13D69CC72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951" y="991411"/>
            <a:ext cx="4698815" cy="4875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39E53D-C864-594C-9453-062B91E8FED4}"/>
              </a:ext>
            </a:extLst>
          </p:cNvPr>
          <p:cNvSpPr txBox="1"/>
          <p:nvPr/>
        </p:nvSpPr>
        <p:spPr>
          <a:xfrm>
            <a:off x="9251971" y="6519446"/>
            <a:ext cx="2882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Wolpert and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Ghahramani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(2000)</a:t>
            </a:r>
          </a:p>
        </p:txBody>
      </p:sp>
    </p:spTree>
    <p:extLst>
      <p:ext uri="{BB962C8B-B14F-4D97-AF65-F5344CB8AC3E}">
        <p14:creationId xmlns:p14="http://schemas.microsoft.com/office/powerpoint/2010/main" val="61034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E85B-3A56-1FCC-1A23-58906745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Motivating examples: sensorimotor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FC931-ABE8-62EA-F9D9-F808DF47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73" y="1122980"/>
            <a:ext cx="6098266" cy="5233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Kalman filter model</a:t>
            </a:r>
          </a:p>
          <a:p>
            <a:r>
              <a:rPr lang="en-US" sz="2200" dirty="0"/>
              <a:t>Optimal combination of prior information with incoming measurements</a:t>
            </a:r>
          </a:p>
          <a:p>
            <a:r>
              <a:rPr lang="en-US" sz="2200" dirty="0"/>
              <a:t>Model of sensorimotor control and learning</a:t>
            </a:r>
          </a:p>
          <a:p>
            <a:pPr lvl="1"/>
            <a:r>
              <a:rPr lang="en-US" sz="2000" dirty="0"/>
              <a:t>Sensorimotor adaptation – recalibration of sensorimotor maps </a:t>
            </a:r>
          </a:p>
          <a:p>
            <a:r>
              <a:rPr lang="en-US" sz="2200" dirty="0"/>
              <a:t>More generally, extremely useful algorithm used in GPS, spacecraft, brain-machine interfaces, and many other applications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8DB6D-032A-67D7-5538-5BDDEFFA5F83}"/>
              </a:ext>
            </a:extLst>
          </p:cNvPr>
          <p:cNvSpPr txBox="1"/>
          <p:nvPr/>
        </p:nvSpPr>
        <p:spPr>
          <a:xfrm>
            <a:off x="10789814" y="6519446"/>
            <a:ext cx="13274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Kandel 5</a:t>
            </a:r>
            <a:r>
              <a:rPr lang="en-US" sz="16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C943-848B-6A98-E70A-904C82A2B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65" y="1122980"/>
            <a:ext cx="5747965" cy="404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5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4884-EE2C-C048-C578-50A61F18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examples: Optimal motor planning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1AA22-DBB3-DECF-D2DC-D3A242832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6892" y="844447"/>
            <a:ext cx="5891663" cy="28320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F52D0F-BB73-D00D-C02A-AA1D06D98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473" y="3781811"/>
            <a:ext cx="6540500" cy="2146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5DE70B-7F79-9F32-6D67-AB65A1000FED}"/>
              </a:ext>
            </a:extLst>
          </p:cNvPr>
          <p:cNvSpPr txBox="1"/>
          <p:nvPr/>
        </p:nvSpPr>
        <p:spPr>
          <a:xfrm>
            <a:off x="9397754" y="6519446"/>
            <a:ext cx="2590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Trommershauser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et al (2008)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648EC-38D6-9296-9684-5708E38C76FC}"/>
              </a:ext>
            </a:extLst>
          </p:cNvPr>
          <p:cNvSpPr txBox="1"/>
          <p:nvPr/>
        </p:nvSpPr>
        <p:spPr>
          <a:xfrm>
            <a:off x="310505" y="5961162"/>
            <a:ext cx="11570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Bayesian model can explain how our motor system accounts for intrinsic variability (motor noise) when planning movements.</a:t>
            </a:r>
          </a:p>
        </p:txBody>
      </p:sp>
    </p:spTree>
    <p:extLst>
      <p:ext uri="{BB962C8B-B14F-4D97-AF65-F5344CB8AC3E}">
        <p14:creationId xmlns:p14="http://schemas.microsoft.com/office/powerpoint/2010/main" val="80326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83CA-546A-2FA3-D13F-26BB1B9D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7897D-C83D-66D5-22ED-9253D4740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course is designed to achieve the following primary learning outcomes:      </a:t>
            </a:r>
          </a:p>
          <a:p>
            <a:pPr marL="457200" indent="-457200">
              <a:buAutoNum type="arabicPeriod"/>
            </a:pPr>
            <a:r>
              <a:rPr lang="en-US" dirty="0"/>
              <a:t>Understand and be able to explain the motivation and rationale for computational modeling and the types of models that are appropriate for different questions.  ✅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Demonstrate knowledge of the fundamental methods of Bayesian modeling: deriving graphical generative models, performing Bayesian inference, computing response probabilities, and model fitting and model comparison. ✅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Gain proficiency with simulating Bayesian models with Python code and understand the implications of different parameter values, test conditions, and outputs. </a:t>
            </a:r>
            <a:r>
              <a:rPr lang="en-US" dirty="0">
                <a:solidFill>
                  <a:srgbClr val="FF0000"/>
                </a:solidFill>
              </a:rPr>
              <a:t>[We’ll see over the next two Wednesdays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</a:t>
            </a:r>
            <a:r>
              <a:rPr lang="en-US" dirty="0">
                <a:solidFill>
                  <a:srgbClr val="FF0000"/>
                </a:solidFill>
              </a:rPr>
              <a:t>] </a:t>
            </a:r>
            <a:r>
              <a:rPr lang="en-US" dirty="0"/>
              <a:t>✅  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Demonstrate the ability to understand, critique, and discuss research articles that incorporate computational modeling of human behavior. ✅</a:t>
            </a:r>
          </a:p>
          <a:p>
            <a:pPr marL="457200" indent="-457200">
              <a:buAutoNum type="arabicPeriod"/>
            </a:pPr>
            <a:r>
              <a:rPr lang="en-US" dirty="0"/>
              <a:t>Gain proficiency with applying modeling to novel questions. ✅ </a:t>
            </a:r>
            <a:r>
              <a:rPr lang="en-US" dirty="0">
                <a:solidFill>
                  <a:srgbClr val="FF0000"/>
                </a:solidFill>
              </a:rPr>
              <a:t>[Next step is to bring these skills into future work/research and answer your own questions.]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75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0EA151-A11A-F674-7372-591D094920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081"/>
          <a:stretch/>
        </p:blipFill>
        <p:spPr>
          <a:xfrm>
            <a:off x="1757030" y="578889"/>
            <a:ext cx="8677940" cy="570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3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0EA151-A11A-F674-7372-591D094920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470"/>
          <a:stretch/>
        </p:blipFill>
        <p:spPr>
          <a:xfrm>
            <a:off x="1952138" y="497735"/>
            <a:ext cx="8287723" cy="62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5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EA12-930D-6EA7-E071-72571C55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topics to explore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7B2B4-62D7-2F14-ED4F-F5A23523C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Modeling behavior of human and artificial agents:</a:t>
            </a:r>
          </a:p>
          <a:p>
            <a:r>
              <a:rPr lang="en-US" dirty="0"/>
              <a:t>Reinforcement learning</a:t>
            </a:r>
          </a:p>
          <a:p>
            <a:r>
              <a:rPr lang="en-US" dirty="0"/>
              <a:t>Optimal (feedback) control </a:t>
            </a:r>
          </a:p>
          <a:p>
            <a:r>
              <a:rPr lang="en-US" dirty="0">
                <a:hlinkClick r:id="rId2"/>
              </a:rPr>
              <a:t>Neuromatch Academy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Statistical inference:</a:t>
            </a:r>
          </a:p>
          <a:p>
            <a:r>
              <a:rPr lang="en-US" dirty="0"/>
              <a:t>Bayesian data analysis/statistics</a:t>
            </a:r>
          </a:p>
          <a:p>
            <a:r>
              <a:rPr lang="en-US" dirty="0"/>
              <a:t>Machine/statistical learning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Math:</a:t>
            </a:r>
          </a:p>
          <a:p>
            <a:r>
              <a:rPr lang="en-US" dirty="0"/>
              <a:t>Linear algebra </a:t>
            </a:r>
          </a:p>
          <a:p>
            <a:r>
              <a:rPr lang="en-US" dirty="0">
                <a:hlinkClick r:id="rId3"/>
              </a:rPr>
              <a:t>Math Tools course from NYU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2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3298-C441-FF32-44F4-1E80FFCD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10-15 minutes for course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8D7ED-1FA6-736D-1BC3-907EBDF64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Instructions from email: </a:t>
            </a:r>
          </a:p>
          <a:p>
            <a:pPr marL="0" indent="0"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Consider letting students know how the survey responses are used at UBC so they are aware that their input can make a difference, such as by providing feedback that you can use to make improvements in the future.</a:t>
            </a:r>
          </a:p>
          <a:p>
            <a:pPr marL="0" indent="0" algn="l">
              <a:buNone/>
            </a:pPr>
            <a:endParaRPr lang="en-US" b="0" i="1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Assure students that the surveys are confidential. You will receive a summary report only after all grades are submitted and finalized. There is no risk of repercussions to students for giving honest, constructive feedback.</a:t>
            </a:r>
          </a:p>
          <a:p>
            <a:pPr marL="0" indent="0" algn="l">
              <a:buNone/>
            </a:pPr>
            <a:endParaRPr lang="en-US" b="0" i="1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 feasible, provide 10-15 minutes in class for students to complete the survey using their devices to log into Canvas.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30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617C-D641-9873-A83C-AB1774DE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EBD2-642C-F77E-B35D-A4A0951D2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 at rubric</a:t>
            </a:r>
          </a:p>
          <a:p>
            <a:endParaRPr lang="en-US" dirty="0"/>
          </a:p>
          <a:p>
            <a:r>
              <a:rPr lang="en-US" dirty="0"/>
              <a:t>Turn in by tomorrow (Tues) at 11:59pm – no late submissions!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Your presentation should be 10-12 minutes (3-5 minutes Q&amp;A):</a:t>
            </a:r>
          </a:p>
          <a:p>
            <a:pPr marL="0" indent="0">
              <a:buNone/>
            </a:pPr>
            <a:r>
              <a:rPr lang="en-US" dirty="0"/>
              <a:t>• Clearly explain the research question and motivation</a:t>
            </a:r>
          </a:p>
          <a:p>
            <a:pPr marL="0" indent="0">
              <a:buNone/>
            </a:pPr>
            <a:r>
              <a:rPr lang="en-US" dirty="0"/>
              <a:t>• Walk through the generative model</a:t>
            </a:r>
          </a:p>
          <a:p>
            <a:pPr marL="0" indent="0">
              <a:buNone/>
            </a:pPr>
            <a:r>
              <a:rPr lang="en-US" dirty="0"/>
              <a:t>• Explain the inference and response distribution steps</a:t>
            </a:r>
          </a:p>
          <a:p>
            <a:pPr marL="0" indent="0">
              <a:buNone/>
            </a:pPr>
            <a:r>
              <a:rPr lang="en-US" dirty="0"/>
              <a:t>• Show and interpret key simulations or results</a:t>
            </a:r>
          </a:p>
          <a:p>
            <a:pPr marL="0" indent="0">
              <a:buNone/>
            </a:pPr>
            <a:r>
              <a:rPr lang="en-US" dirty="0"/>
              <a:t>• Defend assumptions and interpretive choices</a:t>
            </a:r>
          </a:p>
          <a:p>
            <a:pPr marL="0" indent="0">
              <a:buNone/>
            </a:pPr>
            <a:r>
              <a:rPr lang="en-US" dirty="0"/>
              <a:t>You are evaluated on conceptual understanding and command of the model, not presentation polish.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9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1538-1483-E3AF-FF97-7C6ECED1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59F8-81A0-60A2-E614-EE603FD03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Peer reviews automatically assigned after submission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 clear and supportive in your feedback, but do not shy away from pointing out areas for improvement. The following is an example of helpful feedback:</a:t>
            </a:r>
          </a:p>
          <a:p>
            <a:pPr lvl="1"/>
            <a:r>
              <a:rPr lang="en-US" dirty="0"/>
              <a:t>“I thought your plots were quite effective in showing what happens when you change $\sigma$ values. I especially liked how you had multiple functions in the same plot and used color shading with a legend. It made it very easy to compare the results of your simulations. However, I think providing more of an explanation, and examples, of what might underlie different $\sigma$ values would have been helpful. Would you expect to see high (or low) values among different patient populations or due to injury?”</a:t>
            </a:r>
          </a:p>
          <a:p>
            <a:pPr marL="342900" lvl="1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07913"/>
      </p:ext>
    </p:extLst>
  </p:cSld>
  <p:clrMapOvr>
    <a:masterClrMapping/>
  </p:clrMapOvr>
</p:sld>
</file>

<file path=ppt/theme/theme1.xml><?xml version="1.0" encoding="utf-8"?>
<a:theme xmlns:a="http://schemas.openxmlformats.org/drawingml/2006/main" name="Hyo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oPresentation" id="{166059D3-3CD9-6B48-AA4F-DB8986C97DA9}" vid="{B004A774-FDC1-A343-9051-197AF2A085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ubc</Template>
  <TotalTime>10203</TotalTime>
  <Words>883</Words>
  <Application>Microsoft Macintosh PowerPoint</Application>
  <PresentationFormat>Widescreen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Whitney Book</vt:lpstr>
      <vt:lpstr>Arial</vt:lpstr>
      <vt:lpstr>Calibri</vt:lpstr>
      <vt:lpstr>Calibri Light</vt:lpstr>
      <vt:lpstr>Times New Roman</vt:lpstr>
      <vt:lpstr>HyoPresentation</vt:lpstr>
      <vt:lpstr>KIN 482D: Computational modeling of human sensorimotor control and learning</vt:lpstr>
      <vt:lpstr>Roadmap for today</vt:lpstr>
      <vt:lpstr>Why computational modeling? </vt:lpstr>
      <vt:lpstr>What sort of modeling will you learn? </vt:lpstr>
      <vt:lpstr>Motivating examples: Multi-sensory integration (“cue combination”)</vt:lpstr>
      <vt:lpstr>Motivating examples: sensorimotor learning </vt:lpstr>
      <vt:lpstr>Motivating examples: sensorimotor learning </vt:lpstr>
      <vt:lpstr>Motivating examples: Optimal motor planning</vt:lpstr>
      <vt:lpstr>Learning Outcomes</vt:lpstr>
      <vt:lpstr>PowerPoint Presentation</vt:lpstr>
      <vt:lpstr>PowerPoint Presentation</vt:lpstr>
      <vt:lpstr>Other topics to explore next</vt:lpstr>
      <vt:lpstr>10-15 minutes for course feedback</vt:lpstr>
      <vt:lpstr>Final project time</vt:lpstr>
      <vt:lpstr>Final project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 482D: Computational modeling of human sensorimotor control and learning</dc:title>
  <dc:creator>Kim, Hyosub</dc:creator>
  <cp:lastModifiedBy>Kim, Hyosub</cp:lastModifiedBy>
  <cp:revision>67</cp:revision>
  <dcterms:created xsi:type="dcterms:W3CDTF">2023-12-09T20:41:21Z</dcterms:created>
  <dcterms:modified xsi:type="dcterms:W3CDTF">2026-03-30T19:27:45Z</dcterms:modified>
</cp:coreProperties>
</file>